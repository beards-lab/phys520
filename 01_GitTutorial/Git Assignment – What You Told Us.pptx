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2" d="100"/>
          <a:sy n="92" d="100"/>
        </p:scale>
        <p:origin x="230"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6784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five-minute recap of the assignment answers. No names, just themes.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Collaboration and history were the two big themes. Push the second one: even working alone, or letting an AI agent edit your code, Git lets you review the diff and roll back. Commit often, then you can be brave.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Acknowledge the learning curve, it is real. But almost every complaint has a simple habit as a fix. The "too many ways" one is actually the strength: you are never locked into one tool.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overlap: they're all about how copies of a repo relate. Fork lives on GitHub, clone on your laptop, PR is how changes travel back, sync is how they travel forward. Everyone's fork is now behind the class repo, so try Sync fork today.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no wrong answer. Science: the key habit is tagging the exact version used for a paper or figure, that's reproducibility. Data: Git is for code and text, not big binaries. Industry: the same PR flow you just did, plus automation.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Canvas. If you pushed but never opened the pull request, that's the last step of the workflow.</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7F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F2A37"/>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4640"/>
            <a:ext cx="10566400" cy="4480560"/>
          </a:xfrm>
          <a:prstGeom prst="rect">
            <a:avLst/>
          </a:prstGeom>
          <a:noFill/>
          <a:ln/>
        </p:spPr>
        <p:txBody>
          <a:bodyPr wrap="square" lIns="0" tIns="0" rIns="0" bIns="0" rtlCol="0" anchor="t"/>
          <a:lstStyle>
            <a:lvl1pPr marL="0" indent="0" algn="l">
              <a:lnSpc>
                <a:spcPct val="140000"/>
              </a:lnSpc>
              <a:buNone/>
              <a:defRPr lang="en-US" sz="1600" dirty="0">
                <a:solidFill>
                  <a:srgbClr val="1F2A37"/>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7F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F2A37"/>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4640"/>
            <a:ext cx="10566400" cy="4480560"/>
          </a:xfrm>
          <a:prstGeom prst="rect">
            <a:avLst/>
          </a:prstGeom>
          <a:noFill/>
          <a:ln/>
        </p:spPr>
        <p:txBody>
          <a:bodyPr wrap="square" lIns="0" tIns="0" rIns="0" bIns="0" rtlCol="0" anchor="t"/>
          <a:lstStyle>
            <a:lvl1pPr marL="0" indent="0" algn="l">
              <a:lnSpc>
                <a:spcPct val="140000"/>
              </a:lnSpc>
              <a:buNone/>
              <a:defRPr lang="en-US" sz="1600" dirty="0">
                <a:solidFill>
                  <a:srgbClr val="1F2A37"/>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37"/>
        </a:solidFill>
        <a:effectLst/>
      </p:bgPr>
    </p:bg>
    <p:spTree>
      <p:nvGrpSpPr>
        <p:cNvPr id="1" name=""/>
        <p:cNvGrpSpPr/>
        <p:nvPr/>
      </p:nvGrpSpPr>
      <p:grpSpPr>
        <a:xfrm>
          <a:off x="0" y="0"/>
          <a:ext cx="0" cy="0"/>
          <a:chOff x="0" y="0"/>
          <a:chExt cx="0" cy="0"/>
        </a:xfrm>
      </p:grpSpPr>
      <p:sp>
        <p:nvSpPr>
          <p:cNvPr id="2" name="Text 0"/>
          <p:cNvSpPr/>
          <p:nvPr/>
        </p:nvSpPr>
        <p:spPr>
          <a:xfrm>
            <a:off x="812800" y="258826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8FB8E8"/>
                </a:solidFill>
                <a:latin typeface="IBM Plex Sans" pitchFamily="34" charset="0"/>
                <a:ea typeface="IBM Plex Sans" pitchFamily="34" charset="-122"/>
                <a:cs typeface="IBM Plex Sans" pitchFamily="34" charset="-120"/>
              </a:rPr>
              <a:t>Phys 520 · Git tutorial follow-up</a:t>
            </a:r>
            <a:endParaRPr lang="en-US" sz="1600" dirty="0"/>
          </a:p>
        </p:txBody>
      </p:sp>
      <p:sp>
        <p:nvSpPr>
          <p:cNvPr id="3" name="Text 1"/>
          <p:cNvSpPr>
            <a:spLocks noGrp="1"/>
          </p:cNvSpPr>
          <p:nvPr>
            <p:ph type="title"/>
          </p:nvPr>
        </p:nvSpPr>
        <p:spPr>
          <a:xfrm>
            <a:off x="812800" y="3075940"/>
            <a:ext cx="10883392" cy="69596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7F7F4"/>
                </a:solidFill>
                <a:latin typeface="IBM Plex Sans" pitchFamily="34" charset="0"/>
                <a:ea typeface="IBM Plex Sans" pitchFamily="34" charset="-122"/>
                <a:cs typeface="IBM Plex Sans" pitchFamily="34" charset="-120"/>
              </a:rPr>
              <a:t>What you told us about Git</a:t>
            </a:r>
            <a:endParaRPr lang="en-US" sz="4800" dirty="0"/>
          </a:p>
        </p:txBody>
      </p:sp>
      <p:sp>
        <p:nvSpPr>
          <p:cNvPr id="4" name="Text 2"/>
          <p:cNvSpPr/>
          <p:nvPr/>
        </p:nvSpPr>
        <p:spPr>
          <a:xfrm>
            <a:off x="812800" y="3949700"/>
            <a:ext cx="10883392"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D2DC"/>
                </a:solidFill>
                <a:latin typeface="IBM Plex Sans" pitchFamily="34" charset="0"/>
                <a:ea typeface="IBM Plex Sans" pitchFamily="34" charset="-122"/>
                <a:cs typeface="IBM Plex Sans" pitchFamily="34" charset="-120"/>
              </a:rPr>
              <a:t>Your likes, dislikes and questions, summarized</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A37"/>
                </a:solidFill>
                <a:latin typeface="IBM Plex Sans" pitchFamily="34" charset="0"/>
                <a:ea typeface="IBM Plex Sans" pitchFamily="34" charset="-122"/>
                <a:cs typeface="IBM Plex Sans" pitchFamily="34" charset="-120"/>
              </a:rPr>
              <a:t>What you like</a:t>
            </a:r>
            <a:endParaRPr lang="en-US" sz="3200" dirty="0"/>
          </a:p>
        </p:txBody>
      </p:sp>
      <p:sp>
        <p:nvSpPr>
          <p:cNvPr id="3" name="Shape 1"/>
          <p:cNvSpPr/>
          <p:nvPr/>
        </p:nvSpPr>
        <p:spPr>
          <a:xfrm>
            <a:off x="815975" y="1517015"/>
            <a:ext cx="5175250" cy="1583690"/>
          </a:xfrm>
          <a:prstGeom prst="roundRect">
            <a:avLst>
              <a:gd name="adj" fmla="val 6215"/>
            </a:avLst>
          </a:prstGeom>
          <a:solidFill>
            <a:srgbClr val="FEFEFC"/>
          </a:solidFill>
          <a:ln w="6350">
            <a:solidFill>
              <a:srgbClr val="DDE2E8"/>
            </a:solidFill>
            <a:prstDash val="solid"/>
          </a:ln>
        </p:spPr>
        <p:txBody>
          <a:bodyPr/>
          <a:lstStyle/>
          <a:p>
            <a:endParaRPr lang="en-US"/>
          </a:p>
        </p:txBody>
      </p:sp>
      <p:sp>
        <p:nvSpPr>
          <p:cNvPr id="4" name="Text 2"/>
          <p:cNvSpPr/>
          <p:nvPr/>
        </p:nvSpPr>
        <p:spPr>
          <a:xfrm>
            <a:off x="1046480" y="1747520"/>
            <a:ext cx="4855667"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2563A8"/>
                </a:solidFill>
                <a:latin typeface="IBM Plex Sans" pitchFamily="34" charset="0"/>
                <a:ea typeface="IBM Plex Sans" pitchFamily="34" charset="-122"/>
                <a:cs typeface="IBM Plex Sans" pitchFamily="34" charset="-120"/>
              </a:rPr>
              <a:t>7 of 11</a:t>
            </a:r>
            <a:endParaRPr lang="en-US" sz="3600" dirty="0"/>
          </a:p>
        </p:txBody>
      </p:sp>
      <p:sp>
        <p:nvSpPr>
          <p:cNvPr id="5" name="Text 3"/>
          <p:cNvSpPr/>
          <p:nvPr/>
        </p:nvSpPr>
        <p:spPr>
          <a:xfrm>
            <a:off x="1046480" y="2301240"/>
            <a:ext cx="4855667"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Working together without overwriting each other</a:t>
            </a:r>
            <a:endParaRPr lang="en-US" sz="1600" dirty="0"/>
          </a:p>
        </p:txBody>
      </p:sp>
      <p:sp>
        <p:nvSpPr>
          <p:cNvPr id="6" name="Shape 4"/>
          <p:cNvSpPr/>
          <p:nvPr/>
        </p:nvSpPr>
        <p:spPr>
          <a:xfrm>
            <a:off x="6200775" y="1517015"/>
            <a:ext cx="5175250" cy="1583690"/>
          </a:xfrm>
          <a:prstGeom prst="roundRect">
            <a:avLst>
              <a:gd name="adj" fmla="val 6215"/>
            </a:avLst>
          </a:prstGeom>
          <a:solidFill>
            <a:srgbClr val="FEFEFC"/>
          </a:solidFill>
          <a:ln w="6350">
            <a:solidFill>
              <a:srgbClr val="DDE2E8"/>
            </a:solidFill>
            <a:prstDash val="solid"/>
          </a:ln>
        </p:spPr>
        <p:txBody>
          <a:bodyPr/>
          <a:lstStyle/>
          <a:p>
            <a:endParaRPr lang="en-US"/>
          </a:p>
        </p:txBody>
      </p:sp>
      <p:sp>
        <p:nvSpPr>
          <p:cNvPr id="7" name="Text 5"/>
          <p:cNvSpPr/>
          <p:nvPr/>
        </p:nvSpPr>
        <p:spPr>
          <a:xfrm>
            <a:off x="6431280" y="1747520"/>
            <a:ext cx="4855667"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2563A8"/>
                </a:solidFill>
                <a:latin typeface="IBM Plex Sans" pitchFamily="34" charset="0"/>
                <a:ea typeface="IBM Plex Sans" pitchFamily="34" charset="-122"/>
                <a:cs typeface="IBM Plex Sans" pitchFamily="34" charset="-120"/>
              </a:rPr>
              <a:t>6 of 11</a:t>
            </a:r>
            <a:endParaRPr lang="en-US" sz="3600" dirty="0"/>
          </a:p>
        </p:txBody>
      </p:sp>
      <p:sp>
        <p:nvSpPr>
          <p:cNvPr id="8" name="Text 6"/>
          <p:cNvSpPr/>
          <p:nvPr/>
        </p:nvSpPr>
        <p:spPr>
          <a:xfrm>
            <a:off x="6431280" y="2301240"/>
            <a:ext cx="4855667"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Version history: go back in time, restore what worked</a:t>
            </a:r>
            <a:endParaRPr lang="en-US" sz="1600" dirty="0"/>
          </a:p>
        </p:txBody>
      </p:sp>
      <p:sp>
        <p:nvSpPr>
          <p:cNvPr id="9" name="Shape 7"/>
          <p:cNvSpPr/>
          <p:nvPr/>
        </p:nvSpPr>
        <p:spPr>
          <a:xfrm>
            <a:off x="812800" y="3357880"/>
            <a:ext cx="10566400" cy="1457960"/>
          </a:xfrm>
          <a:prstGeom prst="roundRect">
            <a:avLst>
              <a:gd name="adj" fmla="val 6969"/>
            </a:avLst>
          </a:prstGeom>
          <a:solidFill>
            <a:srgbClr val="1F2A37"/>
          </a:solidFill>
          <a:ln/>
        </p:spPr>
        <p:txBody>
          <a:bodyPr/>
          <a:lstStyle/>
          <a:p>
            <a:endParaRPr lang="en-US"/>
          </a:p>
        </p:txBody>
      </p:sp>
      <p:sp>
        <p:nvSpPr>
          <p:cNvPr id="10" name="Text 8"/>
          <p:cNvSpPr/>
          <p:nvPr/>
        </p:nvSpPr>
        <p:spPr>
          <a:xfrm>
            <a:off x="1066800" y="3611880"/>
            <a:ext cx="1036015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7F7F4"/>
                </a:solidFill>
                <a:latin typeface="IBM Plex Sans" pitchFamily="34" charset="0"/>
                <a:ea typeface="IBM Plex Sans" pitchFamily="34" charset="-122"/>
                <a:cs typeface="IBM Plex Sans" pitchFamily="34" charset="-120"/>
              </a:rPr>
              <a:t>It's not only for teams</a:t>
            </a:r>
            <a:endParaRPr lang="en-US" sz="2000" dirty="0"/>
          </a:p>
        </p:txBody>
      </p:sp>
      <p:sp>
        <p:nvSpPr>
          <p:cNvPr id="11" name="Text 9"/>
          <p:cNvSpPr/>
          <p:nvPr/>
        </p:nvSpPr>
        <p:spPr>
          <a:xfrm>
            <a:off x="1066800" y="3992880"/>
            <a:ext cx="1036015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2DC"/>
                </a:solidFill>
                <a:latin typeface="IBM Plex Sans" pitchFamily="34" charset="0"/>
                <a:ea typeface="IBM Plex Sans" pitchFamily="34" charset="-122"/>
                <a:cs typeface="IBM Plex Sans" pitchFamily="34" charset="-120"/>
              </a:rPr>
              <a:t>Git is a safety net for </a:t>
            </a:r>
            <a:r>
              <a:rPr lang="en-US" sz="1600" b="1" dirty="0">
                <a:solidFill>
                  <a:srgbClr val="C9D2DC"/>
                </a:solidFill>
                <a:latin typeface="IBM Plex Sans" pitchFamily="34" charset="0"/>
                <a:ea typeface="IBM Plex Sans" pitchFamily="34" charset="-122"/>
                <a:cs typeface="IBM Plex Sans" pitchFamily="34" charset="-120"/>
              </a:rPr>
              <a:t>yourself</a:t>
            </a:r>
            <a:r>
              <a:rPr lang="en-US" sz="1600" dirty="0">
                <a:solidFill>
                  <a:srgbClr val="C9D2DC"/>
                </a:solidFill>
                <a:latin typeface="IBM Plex Sans" pitchFamily="34" charset="0"/>
                <a:ea typeface="IBM Plex Sans" pitchFamily="34" charset="-122"/>
                <a:cs typeface="IBM Plex Sans" pitchFamily="34" charset="-120"/>
              </a:rPr>
              <a:t>, and for the AI you work with: experiment, make mistakes, and recover. </a:t>
            </a:r>
            <a:br>
              <a:rPr lang="en-US" sz="1600" dirty="0">
                <a:solidFill>
                  <a:srgbClr val="C9D2DC"/>
                </a:solidFill>
                <a:latin typeface="IBM Plex Sans" pitchFamily="34" charset="0"/>
                <a:ea typeface="IBM Plex Sans" pitchFamily="34" charset="-122"/>
                <a:cs typeface="IBM Plex Sans" pitchFamily="34" charset="-120"/>
              </a:rPr>
            </a:br>
            <a:r>
              <a:rPr lang="en-US" sz="1600" dirty="0">
                <a:solidFill>
                  <a:srgbClr val="C9D2DC"/>
                </a:solidFill>
                <a:latin typeface="IBM Plex Sans" pitchFamily="34" charset="0"/>
                <a:ea typeface="IBM Plex Sans" pitchFamily="34" charset="-122"/>
                <a:cs typeface="IBM Plex Sans" pitchFamily="34" charset="-120"/>
              </a:rPr>
              <a:t>Commit before you try something risky.</a:t>
            </a:r>
            <a:endParaRPr lang="en-US" sz="1600" dirty="0"/>
          </a:p>
        </p:txBody>
      </p:sp>
      <p:sp>
        <p:nvSpPr>
          <p:cNvPr id="12" name="Text 10"/>
          <p:cNvSpPr/>
          <p:nvPr/>
        </p:nvSpPr>
        <p:spPr>
          <a:xfrm>
            <a:off x="812800" y="506984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Also mentioned: side-by-side conflict view, branches and worktrees for testing new code, GitHub's interface.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A37"/>
                </a:solidFill>
                <a:latin typeface="IBM Plex Sans" pitchFamily="34" charset="0"/>
                <a:ea typeface="IBM Plex Sans" pitchFamily="34" charset="-122"/>
                <a:cs typeface="IBM Plex Sans" pitchFamily="34" charset="-120"/>
              </a:rPr>
              <a:t>What you dislike</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354467114"/>
              </p:ext>
            </p:extLst>
          </p:nvPr>
        </p:nvGraphicFramePr>
        <p:xfrm>
          <a:off x="822960" y="1524001"/>
          <a:ext cx="10556240" cy="2727960"/>
        </p:xfrm>
        <a:graphic>
          <a:graphicData uri="http://schemas.openxmlformats.org/drawingml/2006/table">
            <a:tbl>
              <a:tblPr/>
              <a:tblGrid>
                <a:gridCol w="4433621">
                  <a:extLst>
                    <a:ext uri="{9D8B030D-6E8A-4147-A177-3AD203B41FA5}">
                      <a16:colId xmlns:a16="http://schemas.microsoft.com/office/drawing/2014/main" val="20000"/>
                    </a:ext>
                  </a:extLst>
                </a:gridCol>
                <a:gridCol w="6122619">
                  <a:extLst>
                    <a:ext uri="{9D8B030D-6E8A-4147-A177-3AD203B41FA5}">
                      <a16:colId xmlns:a16="http://schemas.microsoft.com/office/drawing/2014/main" val="20001"/>
                    </a:ext>
                  </a:extLst>
                </a:gridCol>
              </a:tblGrid>
              <a:tr h="410210">
                <a:tc>
                  <a:txBody>
                    <a:bodyPr/>
                    <a:lstStyle/>
                    <a:p>
                      <a:pPr marL="0" indent="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What you said</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5C3"/>
                      </a:solidFill>
                      <a:prstDash val="solid"/>
                      <a:round/>
                      <a:headEnd type="none" w="med" len="med"/>
                      <a:tailEnd type="none" w="med" len="med"/>
                    </a:lnL>
                    <a:lnR w="12700" cap="flat" cmpd="sng" algn="ctr">
                      <a:solidFill>
                        <a:srgbClr val="B7B7B4"/>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7B7B4"/>
                      </a:solidFill>
                      <a:prstDash val="solid"/>
                      <a:round/>
                      <a:headEnd type="none" w="med" len="med"/>
                      <a:tailEnd type="none" w="med" len="med"/>
                    </a:lnB>
                    <a:solidFill>
                      <a:srgbClr val="E5E5E2"/>
                    </a:solidFill>
                  </a:tcPr>
                </a:tc>
                <a:tc>
                  <a:txBody>
                    <a:bodyPr/>
                    <a:lstStyle/>
                    <a:p>
                      <a:pPr marL="0" indent="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Our take</a:t>
                      </a:r>
                      <a:endParaRPr lang="en-US" sz="1500" dirty="0">
                        <a:latin typeface="IBM Plex Sans" charset="0"/>
                        <a:ea typeface="IBM Plex Sans" charset="0"/>
                        <a:cs typeface="IBM Plex Sans" charset="0"/>
                      </a:endParaRPr>
                    </a:p>
                  </a:txBody>
                  <a:tcPr marL="66675" marR="66675" marT="66675" marB="66675">
                    <a:lnL w="12700" cap="flat" cmpd="sng" algn="ctr">
                      <a:solidFill>
                        <a:srgbClr val="B7B7B4"/>
                      </a:solidFill>
                      <a:prstDash val="solid"/>
                      <a:round/>
                      <a:headEnd type="none" w="med" len="med"/>
                      <a:tailEnd type="none" w="med" len="med"/>
                    </a:lnL>
                    <a:lnR w="12700" cap="flat" cmpd="sng" algn="ctr">
                      <a:solidFill>
                        <a:srgbClr val="B7B7B4"/>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7B7B4"/>
                      </a:solidFill>
                      <a:prstDash val="solid"/>
                      <a:round/>
                      <a:headEnd type="none" w="med" len="med"/>
                      <a:tailEnd type="none" w="med" len="med"/>
                    </a:lnB>
                    <a:solidFill>
                      <a:srgbClr val="E5E5E2"/>
                    </a:solidFill>
                  </a:tcPr>
                </a:tc>
                <a:extLst>
                  <a:ext uri="{0D108BD9-81ED-4DB2-BD59-A6C34878D82A}">
                    <a16:rowId xmlns:a16="http://schemas.microsoft.com/office/drawing/2014/main" val="10000"/>
                  </a:ext>
                </a:extLst>
              </a:tr>
              <a:tr h="410210">
                <a:tc>
                  <a:txBody>
                    <a:bodyPr/>
                    <a:lstStyle/>
                    <a:p>
                      <a:pPr marL="0" indent="0">
                        <a:lnSpc>
                          <a:spcPts val="2100"/>
                        </a:lnSpc>
                        <a:buNone/>
                      </a:pPr>
                      <a:r>
                        <a:rPr lang="en-US" sz="1500" dirty="0">
                          <a:solidFill>
                            <a:srgbClr val="1F2A37"/>
                          </a:solidFill>
                          <a:latin typeface="IBM Plex Sans" pitchFamily="34" charset="0"/>
                          <a:ea typeface="IBM Plex Sans" pitchFamily="34" charset="-122"/>
                          <a:cs typeface="IBM Plex Sans" pitchFamily="34" charset="-120"/>
                        </a:rPr>
                        <a:t>Jargon and learning curve (most of you)</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7B7B4"/>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marL="0" indent="0">
                        <a:lnSpc>
                          <a:spcPts val="2100"/>
                        </a:lnSpc>
                        <a:buNone/>
                      </a:pPr>
                      <a:r>
                        <a:rPr lang="en-US" sz="1500" dirty="0">
                          <a:solidFill>
                            <a:srgbClr val="1F2A37"/>
                          </a:solidFill>
                          <a:latin typeface="IBM Plex Sans" pitchFamily="34" charset="0"/>
                          <a:ea typeface="IBM Plex Sans" pitchFamily="34" charset="-122"/>
                          <a:cs typeface="IBM Plex Sans" pitchFamily="34" charset="-120"/>
                        </a:rPr>
                        <a:t>Real, but short. Commit, push, pull, branch, merge cover daily use.</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7B7B4"/>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extLst>
                  <a:ext uri="{0D108BD9-81ED-4DB2-BD59-A6C34878D82A}">
                    <a16:rowId xmlns:a16="http://schemas.microsoft.com/office/drawing/2014/main" val="10001"/>
                  </a:ext>
                </a:extLst>
              </a:tr>
              <a:tr h="410210">
                <a:tc>
                  <a:txBody>
                    <a:bodyPr/>
                    <a:lstStyle/>
                    <a:p>
                      <a:pPr marL="0" indent="0">
                        <a:lnSpc>
                          <a:spcPts val="2100"/>
                        </a:lnSpc>
                        <a:buNone/>
                      </a:pPr>
                      <a:r>
                        <a:rPr lang="en-US" sz="1500" dirty="0">
                          <a:solidFill>
                            <a:srgbClr val="1F2A37"/>
                          </a:solidFill>
                          <a:latin typeface="IBM Plex Sans" pitchFamily="34" charset="0"/>
                          <a:ea typeface="IBM Plex Sans" pitchFamily="34" charset="-122"/>
                          <a:cs typeface="IBM Plex Sans" pitchFamily="34" charset="-120"/>
                        </a:rPr>
                        <a:t>Branches and merges get messy</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marL="0" indent="0">
                        <a:lnSpc>
                          <a:spcPts val="2100"/>
                        </a:lnSpc>
                        <a:buNone/>
                      </a:pPr>
                      <a:r>
                        <a:rPr lang="en-US" sz="1500" dirty="0">
                          <a:solidFill>
                            <a:srgbClr val="1F2A37"/>
                          </a:solidFill>
                          <a:latin typeface="IBM Plex Sans" pitchFamily="34" charset="0"/>
                          <a:ea typeface="IBM Plex Sans" pitchFamily="34" charset="-122"/>
                          <a:cs typeface="IBM Plex Sans" pitchFamily="34" charset="-120"/>
                        </a:rPr>
                        <a:t>Small, frequent commits. Pull before you start.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extLst>
                  <a:ext uri="{0D108BD9-81ED-4DB2-BD59-A6C34878D82A}">
                    <a16:rowId xmlns:a16="http://schemas.microsoft.com/office/drawing/2014/main" val="10002"/>
                  </a:ext>
                </a:extLst>
              </a:tr>
              <a:tr h="410210">
                <a:tc>
                  <a:txBody>
                    <a:bodyPr/>
                    <a:lstStyle/>
                    <a:p>
                      <a:pPr marL="0" indent="0">
                        <a:lnSpc>
                          <a:spcPts val="2100"/>
                        </a:lnSpc>
                        <a:buNone/>
                      </a:pPr>
                      <a:r>
                        <a:rPr lang="en-US" sz="1500" dirty="0">
                          <a:solidFill>
                            <a:srgbClr val="1F2A37"/>
                          </a:solidFill>
                          <a:latin typeface="IBM Plex Sans" pitchFamily="34" charset="0"/>
                          <a:ea typeface="IBM Plex Sans" pitchFamily="34" charset="-122"/>
                          <a:cs typeface="IBM Plex Sans" pitchFamily="34" charset="-120"/>
                        </a:rPr>
                        <a:t>Edited online, forgot to pull</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marL="0" indent="0">
                        <a:lnSpc>
                          <a:spcPts val="2100"/>
                        </a:lnSpc>
                        <a:buNone/>
                      </a:pPr>
                      <a:r>
                        <a:rPr lang="en-US" sz="1500" dirty="0">
                          <a:solidFill>
                            <a:srgbClr val="1F2A37"/>
                          </a:solidFill>
                          <a:latin typeface="IBM Plex Sans" pitchFamily="34" charset="0"/>
                          <a:ea typeface="IBM Plex Sans" pitchFamily="34" charset="-122"/>
                          <a:cs typeface="IBM Plex Sans" pitchFamily="34" charset="-120"/>
                        </a:rPr>
                        <a:t>Pull first, every session.</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extLst>
                  <a:ext uri="{0D108BD9-81ED-4DB2-BD59-A6C34878D82A}">
                    <a16:rowId xmlns:a16="http://schemas.microsoft.com/office/drawing/2014/main" val="10003"/>
                  </a:ext>
                </a:extLst>
              </a:tr>
              <a:tr h="410210">
                <a:tc>
                  <a:txBody>
                    <a:bodyPr/>
                    <a:lstStyle/>
                    <a:p>
                      <a:pPr marL="0" indent="0">
                        <a:lnSpc>
                          <a:spcPts val="2100"/>
                        </a:lnSpc>
                        <a:buNone/>
                      </a:pPr>
                      <a:r>
                        <a:rPr lang="en-US" sz="1500" dirty="0">
                          <a:solidFill>
                            <a:srgbClr val="1F2A37"/>
                          </a:solidFill>
                          <a:latin typeface="IBM Plex Sans" pitchFamily="34" charset="0"/>
                          <a:ea typeface="IBM Plex Sans" pitchFamily="34" charset="-122"/>
                          <a:cs typeface="IBM Plex Sans" pitchFamily="34" charset="-120"/>
                        </a:rPr>
                        <a:t>GitHub outages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marL="0" indent="0">
                        <a:lnSpc>
                          <a:spcPts val="2100"/>
                        </a:lnSpc>
                        <a:buNone/>
                      </a:pPr>
                      <a:r>
                        <a:rPr lang="en-US" sz="1500" dirty="0">
                          <a:solidFill>
                            <a:srgbClr val="1F2A37"/>
                          </a:solidFill>
                          <a:latin typeface="IBM Plex Sans" pitchFamily="34" charset="0"/>
                          <a:ea typeface="IBM Plex Sans" pitchFamily="34" charset="-122"/>
                          <a:cs typeface="IBM Plex Sans" pitchFamily="34" charset="-120"/>
                        </a:rPr>
                        <a:t>Git is local: keep committing offline, push later.</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extLst>
                  <a:ext uri="{0D108BD9-81ED-4DB2-BD59-A6C34878D82A}">
                    <a16:rowId xmlns:a16="http://schemas.microsoft.com/office/drawing/2014/main" val="10004"/>
                  </a:ext>
                </a:extLst>
              </a:tr>
              <a:tr h="676910">
                <a:tc>
                  <a:txBody>
                    <a:bodyPr/>
                    <a:lstStyle/>
                    <a:p>
                      <a:pPr marL="0" indent="0">
                        <a:lnSpc>
                          <a:spcPts val="2100"/>
                        </a:lnSpc>
                        <a:buNone/>
                      </a:pPr>
                      <a:r>
                        <a:rPr lang="en-US" sz="1500" dirty="0">
                          <a:solidFill>
                            <a:srgbClr val="1F2A37"/>
                          </a:solidFill>
                          <a:latin typeface="IBM Plex Sans" pitchFamily="34" charset="0"/>
                          <a:ea typeface="IBM Plex Sans" pitchFamily="34" charset="-122"/>
                          <a:cs typeface="IBM Plex Sans" pitchFamily="34" charset="-120"/>
                        </a:rPr>
                        <a:t>Too many ways to use it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5C3"/>
                      </a:solidFill>
                      <a:prstDash val="solid"/>
                      <a:round/>
                      <a:headEnd type="none" w="med" len="med"/>
                      <a:tailEnd type="none" w="med" len="med"/>
                    </a:lnL>
                    <a:lnR w="12700" cap="flat" cmpd="sng" algn="ctr">
                      <a:solidFill>
                        <a:srgbClr val="B8BEC5"/>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8BEC5"/>
                      </a:solidFill>
                      <a:prstDash val="solid"/>
                      <a:round/>
                      <a:headEnd type="none" w="med" len="med"/>
                      <a:tailEnd type="none" w="med" len="med"/>
                    </a:lnB>
                    <a:solidFill>
                      <a:srgbClr val="E6EEF7"/>
                    </a:solidFill>
                  </a:tcPr>
                </a:tc>
                <a:tc>
                  <a:txBody>
                    <a:bodyPr/>
                    <a:lstStyle/>
                    <a:p>
                      <a:pPr marL="0" indent="0">
                        <a:lnSpc>
                          <a:spcPts val="2100"/>
                        </a:lnSpc>
                        <a:buNone/>
                      </a:pPr>
                      <a:r>
                        <a:rPr lang="en-US" sz="1500" dirty="0">
                          <a:solidFill>
                            <a:srgbClr val="1F2A37"/>
                          </a:solidFill>
                          <a:latin typeface="IBM Plex Sans" pitchFamily="34" charset="0"/>
                          <a:ea typeface="IBM Plex Sans" pitchFamily="34" charset="-122"/>
                          <a:cs typeface="IBM Plex Sans" pitchFamily="34" charset="-120"/>
                        </a:rPr>
                        <a:t>That's a feature :) Same repo from Desktop, VS Code or terminal. Switch anytime, use what you like the best</a:t>
                      </a:r>
                      <a:endParaRPr lang="en-US" sz="1500" dirty="0">
                        <a:latin typeface="IBM Plex Sans" charset="0"/>
                        <a:ea typeface="IBM Plex Sans" charset="0"/>
                        <a:cs typeface="IBM Plex Sans" charset="0"/>
                      </a:endParaRPr>
                    </a:p>
                  </a:txBody>
                  <a:tcPr marL="66675" marR="66675" marT="66675" marB="66675">
                    <a:lnL w="12700" cap="flat" cmpd="sng" algn="ctr">
                      <a:solidFill>
                        <a:srgbClr val="B8BEC5"/>
                      </a:solidFill>
                      <a:prstDash val="solid"/>
                      <a:round/>
                      <a:headEnd type="none" w="med" len="med"/>
                      <a:tailEnd type="none" w="med" len="med"/>
                    </a:lnL>
                    <a:lnR w="12700" cap="flat" cmpd="sng" algn="ctr">
                      <a:solidFill>
                        <a:srgbClr val="B8BEC5"/>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B8BEC5"/>
                      </a:solidFill>
                      <a:prstDash val="solid"/>
                      <a:round/>
                      <a:headEnd type="none" w="med" len="med"/>
                      <a:tailEnd type="none" w="med" len="med"/>
                    </a:lnB>
                    <a:solidFill>
                      <a:srgbClr val="E6EEF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A37"/>
                </a:solidFill>
                <a:latin typeface="IBM Plex Sans" pitchFamily="34" charset="0"/>
                <a:ea typeface="IBM Plex Sans" pitchFamily="34" charset="-122"/>
                <a:cs typeface="IBM Plex Sans" pitchFamily="34" charset="-120"/>
              </a:rPr>
              <a:t>Your questions: how Git works</a:t>
            </a:r>
            <a:endParaRPr lang="en-US" sz="3200" dirty="0"/>
          </a:p>
        </p:txBody>
      </p:sp>
      <p:sp>
        <p:nvSpPr>
          <p:cNvPr id="3" name="Shape 1"/>
          <p:cNvSpPr/>
          <p:nvPr/>
        </p:nvSpPr>
        <p:spPr>
          <a:xfrm>
            <a:off x="815975" y="1466216"/>
            <a:ext cx="5175250" cy="1477010"/>
          </a:xfrm>
          <a:prstGeom prst="roundRect">
            <a:avLst>
              <a:gd name="adj" fmla="val 6664"/>
            </a:avLst>
          </a:prstGeom>
          <a:solidFill>
            <a:srgbClr val="FEFEFC"/>
          </a:solidFill>
          <a:ln w="6350">
            <a:solidFill>
              <a:srgbClr val="DDE2E8"/>
            </a:solidFill>
            <a:prstDash val="solid"/>
          </a:ln>
        </p:spPr>
        <p:txBody>
          <a:bodyPr/>
          <a:lstStyle/>
          <a:p>
            <a:endParaRPr lang="en-US"/>
          </a:p>
        </p:txBody>
      </p:sp>
      <p:sp>
        <p:nvSpPr>
          <p:cNvPr id="4" name="Text 2"/>
          <p:cNvSpPr/>
          <p:nvPr/>
        </p:nvSpPr>
        <p:spPr>
          <a:xfrm>
            <a:off x="1021080" y="1671320"/>
            <a:ext cx="490799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How do merge conflicts work?</a:t>
            </a:r>
            <a:endParaRPr lang="en-US" sz="1600" dirty="0"/>
          </a:p>
        </p:txBody>
      </p:sp>
      <p:sp>
        <p:nvSpPr>
          <p:cNvPr id="5" name="Text 3"/>
          <p:cNvSpPr/>
          <p:nvPr/>
        </p:nvSpPr>
        <p:spPr>
          <a:xfrm>
            <a:off x="1021080" y="1991361"/>
            <a:ext cx="4907991"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Two commits change the same lines. Git marks both versions; you keep the right one and commit. Your 11 PRs merged with zero conflicts.</a:t>
            </a:r>
            <a:endParaRPr lang="en-US" sz="1400" dirty="0"/>
          </a:p>
        </p:txBody>
      </p:sp>
      <p:sp>
        <p:nvSpPr>
          <p:cNvPr id="6" name="Shape 4"/>
          <p:cNvSpPr/>
          <p:nvPr/>
        </p:nvSpPr>
        <p:spPr>
          <a:xfrm>
            <a:off x="6200775" y="1466216"/>
            <a:ext cx="5175250" cy="1477010"/>
          </a:xfrm>
          <a:prstGeom prst="roundRect">
            <a:avLst>
              <a:gd name="adj" fmla="val 6664"/>
            </a:avLst>
          </a:prstGeom>
          <a:solidFill>
            <a:srgbClr val="FEFEFC"/>
          </a:solidFill>
          <a:ln w="6350">
            <a:solidFill>
              <a:srgbClr val="DDE2E8"/>
            </a:solidFill>
            <a:prstDash val="solid"/>
          </a:ln>
        </p:spPr>
        <p:txBody>
          <a:bodyPr/>
          <a:lstStyle/>
          <a:p>
            <a:endParaRPr lang="en-US"/>
          </a:p>
        </p:txBody>
      </p:sp>
      <p:sp>
        <p:nvSpPr>
          <p:cNvPr id="7" name="Text 5"/>
          <p:cNvSpPr/>
          <p:nvPr/>
        </p:nvSpPr>
        <p:spPr>
          <a:xfrm>
            <a:off x="6405880" y="1671320"/>
            <a:ext cx="490799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Fork vs. clone?</a:t>
            </a:r>
            <a:endParaRPr lang="en-US" sz="1600" dirty="0"/>
          </a:p>
        </p:txBody>
      </p:sp>
      <p:sp>
        <p:nvSpPr>
          <p:cNvPr id="8" name="Text 6"/>
          <p:cNvSpPr/>
          <p:nvPr/>
        </p:nvSpPr>
        <p:spPr>
          <a:xfrm>
            <a:off x="6405880" y="1991361"/>
            <a:ext cx="4907991"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Fork: your copy on GitHub. Clone: a copy on your computer. Fork when you can't push to the original, then clone your fork.</a:t>
            </a:r>
            <a:endParaRPr lang="en-US" sz="1400" dirty="0"/>
          </a:p>
        </p:txBody>
      </p:sp>
      <p:sp>
        <p:nvSpPr>
          <p:cNvPr id="9" name="Shape 7"/>
          <p:cNvSpPr/>
          <p:nvPr/>
        </p:nvSpPr>
        <p:spPr>
          <a:xfrm>
            <a:off x="815975" y="3152775"/>
            <a:ext cx="5175250" cy="1477010"/>
          </a:xfrm>
          <a:prstGeom prst="roundRect">
            <a:avLst>
              <a:gd name="adj" fmla="val 6664"/>
            </a:avLst>
          </a:prstGeom>
          <a:solidFill>
            <a:srgbClr val="FEFEFC"/>
          </a:solidFill>
          <a:ln w="6350">
            <a:solidFill>
              <a:srgbClr val="DDE2E8"/>
            </a:solidFill>
            <a:prstDash val="solid"/>
          </a:ln>
        </p:spPr>
        <p:txBody>
          <a:bodyPr/>
          <a:lstStyle/>
          <a:p>
            <a:endParaRPr lang="en-US"/>
          </a:p>
        </p:txBody>
      </p:sp>
      <p:sp>
        <p:nvSpPr>
          <p:cNvPr id="10" name="Text 8"/>
          <p:cNvSpPr/>
          <p:nvPr/>
        </p:nvSpPr>
        <p:spPr>
          <a:xfrm>
            <a:off x="1021080" y="3357880"/>
            <a:ext cx="490799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Why a pull request, if merge exists?</a:t>
            </a:r>
            <a:endParaRPr lang="en-US" sz="1600" dirty="0"/>
          </a:p>
        </p:txBody>
      </p:sp>
      <p:sp>
        <p:nvSpPr>
          <p:cNvPr id="11" name="Text 9"/>
          <p:cNvSpPr/>
          <p:nvPr/>
        </p:nvSpPr>
        <p:spPr>
          <a:xfrm>
            <a:off x="1021080" y="3677920"/>
            <a:ext cx="4907991"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Merge needs write access. A PR lets anyone propose a change, and lets others review and discuss it before it's merged.</a:t>
            </a:r>
            <a:endParaRPr lang="en-US" sz="1400" dirty="0"/>
          </a:p>
        </p:txBody>
      </p:sp>
      <p:sp>
        <p:nvSpPr>
          <p:cNvPr id="12" name="Shape 10"/>
          <p:cNvSpPr/>
          <p:nvPr/>
        </p:nvSpPr>
        <p:spPr>
          <a:xfrm>
            <a:off x="6200775" y="3152775"/>
            <a:ext cx="5175250" cy="1477010"/>
          </a:xfrm>
          <a:prstGeom prst="roundRect">
            <a:avLst>
              <a:gd name="adj" fmla="val 6664"/>
            </a:avLst>
          </a:prstGeom>
          <a:solidFill>
            <a:srgbClr val="FEFEFC"/>
          </a:solidFill>
          <a:ln w="6350">
            <a:solidFill>
              <a:srgbClr val="DDE2E8"/>
            </a:solidFill>
            <a:prstDash val="solid"/>
          </a:ln>
        </p:spPr>
        <p:txBody>
          <a:bodyPr/>
          <a:lstStyle/>
          <a:p>
            <a:endParaRPr lang="en-US"/>
          </a:p>
        </p:txBody>
      </p:sp>
      <p:sp>
        <p:nvSpPr>
          <p:cNvPr id="13" name="Text 11"/>
          <p:cNvSpPr/>
          <p:nvPr/>
        </p:nvSpPr>
        <p:spPr>
          <a:xfrm>
            <a:off x="6405880" y="3357880"/>
            <a:ext cx="490799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How do I keep my fork up to date?</a:t>
            </a:r>
            <a:endParaRPr lang="en-US" sz="1600" dirty="0"/>
          </a:p>
        </p:txBody>
      </p:sp>
      <p:sp>
        <p:nvSpPr>
          <p:cNvPr id="14" name="Text 12"/>
          <p:cNvSpPr/>
          <p:nvPr/>
        </p:nvSpPr>
        <p:spPr>
          <a:xfrm>
            <a:off x="6405880" y="3677920"/>
            <a:ext cx="4907991"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"Sync fork" on GitHub, then pull. Or add the original as upstream: git fetch upstream, git merge. Your forks are behind now.</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2A37"/>
                </a:solidFill>
                <a:latin typeface="IBM Plex Sans" pitchFamily="34" charset="0"/>
                <a:ea typeface="IBM Plex Sans" pitchFamily="34" charset="-122"/>
                <a:cs typeface="IBM Plex Sans" pitchFamily="34" charset="-120"/>
              </a:rPr>
              <a:t>Your questions: tools and workflow</a:t>
            </a:r>
            <a:endParaRPr lang="en-US" sz="3200" dirty="0"/>
          </a:p>
        </p:txBody>
      </p:sp>
      <p:sp>
        <p:nvSpPr>
          <p:cNvPr id="3" name="Shape 1"/>
          <p:cNvSpPr/>
          <p:nvPr/>
        </p:nvSpPr>
        <p:spPr>
          <a:xfrm>
            <a:off x="815975" y="1466214"/>
            <a:ext cx="5175250" cy="1477010"/>
          </a:xfrm>
          <a:prstGeom prst="roundRect">
            <a:avLst>
              <a:gd name="adj" fmla="val 6664"/>
            </a:avLst>
          </a:prstGeom>
          <a:solidFill>
            <a:srgbClr val="FEFEFC"/>
          </a:solidFill>
          <a:ln w="6350">
            <a:solidFill>
              <a:srgbClr val="DDE2E8"/>
            </a:solidFill>
            <a:prstDash val="solid"/>
          </a:ln>
        </p:spPr>
        <p:txBody>
          <a:bodyPr/>
          <a:lstStyle/>
          <a:p>
            <a:endParaRPr lang="en-US"/>
          </a:p>
        </p:txBody>
      </p:sp>
      <p:sp>
        <p:nvSpPr>
          <p:cNvPr id="4" name="Text 2"/>
          <p:cNvSpPr/>
          <p:nvPr/>
        </p:nvSpPr>
        <p:spPr>
          <a:xfrm>
            <a:off x="1021080" y="1671321"/>
            <a:ext cx="490799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Desktop, VS Code or terminal? </a:t>
            </a:r>
            <a:r>
              <a:rPr lang="en-US" sz="1600" b="1" dirty="0">
                <a:solidFill>
                  <a:srgbClr val="2563A8"/>
                </a:solidFill>
                <a:latin typeface="IBM Plex Sans" pitchFamily="34" charset="0"/>
                <a:ea typeface="IBM Plex Sans" pitchFamily="34" charset="-122"/>
                <a:cs typeface="IBM Plex Sans" pitchFamily="34" charset="-120"/>
              </a:rPr>
              <a:t>(asked twice)</a:t>
            </a:r>
            <a:endParaRPr lang="en-US" sz="1600" dirty="0"/>
          </a:p>
        </p:txBody>
      </p:sp>
      <p:sp>
        <p:nvSpPr>
          <p:cNvPr id="5" name="Text 3"/>
          <p:cNvSpPr/>
          <p:nvPr/>
        </p:nvSpPr>
        <p:spPr>
          <a:xfrm>
            <a:off x="1021080" y="1991360"/>
            <a:ext cx="4907991" cy="902333"/>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Same Git underneath. Most people mix: a GUI for diffs and history, the terminal for complex tasks, integrations (VS code) for quick access. Use what's comfortable.</a:t>
            </a:r>
            <a:endParaRPr lang="en-US" sz="1400" dirty="0"/>
          </a:p>
        </p:txBody>
      </p:sp>
      <p:sp>
        <p:nvSpPr>
          <p:cNvPr id="6" name="Shape 4"/>
          <p:cNvSpPr/>
          <p:nvPr/>
        </p:nvSpPr>
        <p:spPr>
          <a:xfrm>
            <a:off x="6200775" y="1466214"/>
            <a:ext cx="5175250" cy="1477010"/>
          </a:xfrm>
          <a:prstGeom prst="roundRect">
            <a:avLst>
              <a:gd name="adj" fmla="val 6664"/>
            </a:avLst>
          </a:prstGeom>
          <a:solidFill>
            <a:srgbClr val="FEFEFC"/>
          </a:solidFill>
          <a:ln w="6350">
            <a:solidFill>
              <a:srgbClr val="DDE2E8"/>
            </a:solidFill>
            <a:prstDash val="solid"/>
          </a:ln>
        </p:spPr>
        <p:txBody>
          <a:bodyPr/>
          <a:lstStyle/>
          <a:p>
            <a:endParaRPr lang="en-US"/>
          </a:p>
        </p:txBody>
      </p:sp>
      <p:sp>
        <p:nvSpPr>
          <p:cNvPr id="7" name="Text 5"/>
          <p:cNvSpPr/>
          <p:nvPr/>
        </p:nvSpPr>
        <p:spPr>
          <a:xfrm>
            <a:off x="6405880" y="1671321"/>
            <a:ext cx="490799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When is Git worth it? Branching in science?</a:t>
            </a:r>
            <a:endParaRPr lang="en-US" sz="1600" dirty="0"/>
          </a:p>
        </p:txBody>
      </p:sp>
      <p:sp>
        <p:nvSpPr>
          <p:cNvPr id="8" name="Text 6"/>
          <p:cNvSpPr/>
          <p:nvPr/>
        </p:nvSpPr>
        <p:spPr>
          <a:xfrm>
            <a:off x="6405880" y="1991361"/>
            <a:ext cx="4907991"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Almost always. Keep it simple: main always works, short branches for experiments, tag the commit behind each figure.</a:t>
            </a:r>
            <a:endParaRPr lang="en-US" sz="1400" dirty="0"/>
          </a:p>
        </p:txBody>
      </p:sp>
      <p:sp>
        <p:nvSpPr>
          <p:cNvPr id="9" name="Shape 7"/>
          <p:cNvSpPr/>
          <p:nvPr/>
        </p:nvSpPr>
        <p:spPr>
          <a:xfrm>
            <a:off x="815975" y="3152775"/>
            <a:ext cx="5175250" cy="1477010"/>
          </a:xfrm>
          <a:prstGeom prst="roundRect">
            <a:avLst>
              <a:gd name="adj" fmla="val 6664"/>
            </a:avLst>
          </a:prstGeom>
          <a:solidFill>
            <a:srgbClr val="FEFEFC"/>
          </a:solidFill>
          <a:ln w="6350">
            <a:solidFill>
              <a:srgbClr val="DDE2E8"/>
            </a:solidFill>
            <a:prstDash val="solid"/>
          </a:ln>
        </p:spPr>
        <p:txBody>
          <a:bodyPr/>
          <a:lstStyle/>
          <a:p>
            <a:endParaRPr lang="en-US"/>
          </a:p>
        </p:txBody>
      </p:sp>
      <p:sp>
        <p:nvSpPr>
          <p:cNvPr id="10" name="Text 8"/>
          <p:cNvSpPr/>
          <p:nvPr/>
        </p:nvSpPr>
        <p:spPr>
          <a:xfrm>
            <a:off x="1021080" y="3357882"/>
            <a:ext cx="490799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Large data files?</a:t>
            </a:r>
            <a:endParaRPr lang="en-US" sz="1600" dirty="0"/>
          </a:p>
        </p:txBody>
      </p:sp>
      <p:sp>
        <p:nvSpPr>
          <p:cNvPr id="11" name="Text 9"/>
          <p:cNvSpPr/>
          <p:nvPr/>
        </p:nvSpPr>
        <p:spPr>
          <a:xfrm>
            <a:off x="1021080" y="3677921"/>
            <a:ext cx="490799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GitHub blocks files over 100 MB. Use Git LFS, or keep data elsewhere (Zenodo, Box) and version the scripts.</a:t>
            </a:r>
            <a:endParaRPr lang="en-US" sz="1400" dirty="0"/>
          </a:p>
        </p:txBody>
      </p:sp>
      <p:sp>
        <p:nvSpPr>
          <p:cNvPr id="12" name="Shape 10"/>
          <p:cNvSpPr/>
          <p:nvPr/>
        </p:nvSpPr>
        <p:spPr>
          <a:xfrm>
            <a:off x="6200775" y="3152775"/>
            <a:ext cx="5175250" cy="1477010"/>
          </a:xfrm>
          <a:prstGeom prst="roundRect">
            <a:avLst>
              <a:gd name="adj" fmla="val 6664"/>
            </a:avLst>
          </a:prstGeom>
          <a:solidFill>
            <a:srgbClr val="FEFEFC"/>
          </a:solidFill>
          <a:ln w="6350">
            <a:solidFill>
              <a:srgbClr val="DDE2E8"/>
            </a:solidFill>
            <a:prstDash val="solid"/>
          </a:ln>
        </p:spPr>
        <p:txBody>
          <a:bodyPr/>
          <a:lstStyle/>
          <a:p>
            <a:endParaRPr lang="en-US"/>
          </a:p>
        </p:txBody>
      </p:sp>
      <p:sp>
        <p:nvSpPr>
          <p:cNvPr id="13" name="Text 11"/>
          <p:cNvSpPr/>
          <p:nvPr/>
        </p:nvSpPr>
        <p:spPr>
          <a:xfrm>
            <a:off x="6405880" y="3357882"/>
            <a:ext cx="490799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How do companies ship updates?</a:t>
            </a:r>
            <a:endParaRPr lang="en-US" sz="1600" dirty="0"/>
          </a:p>
        </p:txBody>
      </p:sp>
      <p:sp>
        <p:nvSpPr>
          <p:cNvPr id="14" name="Text 12"/>
          <p:cNvSpPr/>
          <p:nvPr/>
        </p:nvSpPr>
        <p:spPr>
          <a:xfrm>
            <a:off x="6405880" y="3677921"/>
            <a:ext cx="4907991"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Branch, pull request, review plus automated tests, merge, then a tagged release built and deployed automatically (CI/CD).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2A3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19405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7F7F4"/>
                </a:solidFill>
                <a:latin typeface="IBM Plex Sans" pitchFamily="34" charset="0"/>
                <a:ea typeface="IBM Plex Sans" pitchFamily="34" charset="-122"/>
                <a:cs typeface="IBM Plex Sans" pitchFamily="34" charset="-120"/>
              </a:rPr>
              <a:t>Your evaluation is in Canvas</a:t>
            </a:r>
            <a:endParaRPr lang="en-US" sz="3200" dirty="0"/>
          </a:p>
        </p:txBody>
      </p:sp>
      <p:sp>
        <p:nvSpPr>
          <p:cNvPr id="3" name="Text 1"/>
          <p:cNvSpPr/>
          <p:nvPr/>
        </p:nvSpPr>
        <p:spPr>
          <a:xfrm>
            <a:off x="812800" y="2692400"/>
            <a:ext cx="1574800" cy="66548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8FB8E8"/>
                </a:solidFill>
                <a:latin typeface="IBM Plex Sans" pitchFamily="34" charset="0"/>
                <a:ea typeface="IBM Plex Sans" pitchFamily="34" charset="-122"/>
                <a:cs typeface="IBM Plex Sans" pitchFamily="34" charset="-120"/>
              </a:rPr>
              <a:t>2 pts</a:t>
            </a:r>
            <a:endParaRPr lang="en-US" sz="3600" dirty="0"/>
          </a:p>
        </p:txBody>
      </p:sp>
      <p:sp>
        <p:nvSpPr>
          <p:cNvPr id="4" name="Text 2"/>
          <p:cNvSpPr/>
          <p:nvPr/>
        </p:nvSpPr>
        <p:spPr>
          <a:xfrm>
            <a:off x="2641600" y="2834639"/>
            <a:ext cx="2746248"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F7F7F4"/>
                </a:solidFill>
                <a:latin typeface="IBM Plex Sans" pitchFamily="34" charset="0"/>
                <a:ea typeface="IBM Plex Sans" pitchFamily="34" charset="-122"/>
                <a:cs typeface="IBM Plex Sans" pitchFamily="34" charset="-120"/>
              </a:rPr>
              <a:t>Pull request opened</a:t>
            </a:r>
            <a:endParaRPr lang="en-US" sz="2000" dirty="0"/>
          </a:p>
        </p:txBody>
      </p:sp>
      <p:sp>
        <p:nvSpPr>
          <p:cNvPr id="5" name="Text 3"/>
          <p:cNvSpPr/>
          <p:nvPr/>
        </p:nvSpPr>
        <p:spPr>
          <a:xfrm>
            <a:off x="812800" y="3484882"/>
            <a:ext cx="1574800" cy="66548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8FB8E8"/>
                </a:solidFill>
                <a:latin typeface="IBM Plex Sans" pitchFamily="34" charset="0"/>
                <a:ea typeface="IBM Plex Sans" pitchFamily="34" charset="-122"/>
                <a:cs typeface="IBM Plex Sans" pitchFamily="34" charset="-120"/>
              </a:rPr>
              <a:t>1 pt</a:t>
            </a:r>
            <a:endParaRPr lang="en-US" sz="3600" dirty="0"/>
          </a:p>
        </p:txBody>
      </p:sp>
      <p:sp>
        <p:nvSpPr>
          <p:cNvPr id="6" name="Text 4"/>
          <p:cNvSpPr/>
          <p:nvPr/>
        </p:nvSpPr>
        <p:spPr>
          <a:xfrm>
            <a:off x="2641600" y="3627121"/>
            <a:ext cx="592836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F7F7F4"/>
                </a:solidFill>
                <a:latin typeface="IBM Plex Sans" pitchFamily="34" charset="0"/>
                <a:ea typeface="IBM Plex Sans" pitchFamily="34" charset="-122"/>
                <a:cs typeface="IBM Plex Sans" pitchFamily="34" charset="-120"/>
              </a:rPr>
              <a:t>Committed and pushed, but no pull request</a:t>
            </a:r>
            <a:endParaRPr lang="en-US" sz="2000" dirty="0"/>
          </a:p>
        </p:txBody>
      </p:sp>
      <p:sp>
        <p:nvSpPr>
          <p:cNvPr id="7" name="Text 5"/>
          <p:cNvSpPr/>
          <p:nvPr/>
        </p:nvSpPr>
        <p:spPr>
          <a:xfrm>
            <a:off x="812800" y="4277361"/>
            <a:ext cx="1574800" cy="66548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8FB8E8"/>
                </a:solidFill>
                <a:latin typeface="IBM Plex Sans" pitchFamily="34" charset="0"/>
                <a:ea typeface="IBM Plex Sans" pitchFamily="34" charset="-122"/>
                <a:cs typeface="IBM Plex Sans" pitchFamily="34" charset="-120"/>
              </a:rPr>
              <a:t>0 pts</a:t>
            </a:r>
            <a:endParaRPr lang="en-US" sz="3600" dirty="0"/>
          </a:p>
        </p:txBody>
      </p:sp>
      <p:sp>
        <p:nvSpPr>
          <p:cNvPr id="8" name="Text 6"/>
          <p:cNvSpPr/>
          <p:nvPr/>
        </p:nvSpPr>
        <p:spPr>
          <a:xfrm>
            <a:off x="2641600" y="4419600"/>
            <a:ext cx="1837658"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F7F7F4"/>
                </a:solidFill>
                <a:latin typeface="IBM Plex Sans" pitchFamily="34" charset="0"/>
                <a:ea typeface="IBM Plex Sans" pitchFamily="34" charset="-122"/>
                <a:cs typeface="IBM Plex Sans" pitchFamily="34" charset="-120"/>
              </a:rPr>
              <a:t>Not delivered</a:t>
            </a:r>
            <a:endParaRPr lang="en-US" sz="2000" dirty="0"/>
          </a:p>
        </p:txBody>
      </p:sp>
    </p:spTree>
  </p:cSld>
  <p:clrMapOvr>
    <a:masterClrMapping/>
  </p:clrMapOvr>
</p:sld>
</file>

<file path=ppt/theme/theme1.xml><?xml version="1.0" encoding="utf-8"?>
<a:theme xmlns:a="http://schemas.openxmlformats.org/drawingml/2006/main" name="Git Assignment – What You Told Us">
  <a:themeElements>
    <a:clrScheme name="Git Assignment – What You Told Us">
      <a:dk1>
        <a:srgbClr val="1F2A37"/>
      </a:dk1>
      <a:lt1>
        <a:srgbClr val="F7F7F4"/>
      </a:lt1>
      <a:dk2>
        <a:srgbClr val="555D66"/>
      </a:dk2>
      <a:lt2>
        <a:srgbClr val="E1E3E1"/>
      </a:lt2>
      <a:accent1>
        <a:srgbClr val="8FB8E8"/>
      </a:accent1>
      <a:accent2>
        <a:srgbClr val="2563A8"/>
      </a:accent2>
      <a:accent3>
        <a:srgbClr val="4A5568"/>
      </a:accent3>
      <a:accent4>
        <a:srgbClr val="C9D2DC"/>
      </a:accent4>
      <a:accent5>
        <a:srgbClr val="9AA0A6"/>
      </a:accent5>
      <a:accent6>
        <a:srgbClr val="757C83"/>
      </a:accent6>
      <a:hlink>
        <a:srgbClr val="0563C1"/>
      </a:hlink>
      <a:folHlink>
        <a:srgbClr val="954F72"/>
      </a:folHlink>
    </a:clrScheme>
    <a:fontScheme name="Git Assignment – What You Told U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753</Words>
  <Application>Microsoft Office PowerPoint</Application>
  <PresentationFormat>Widescreen</PresentationFormat>
  <Paragraphs>61</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IBM Plex Sans</vt:lpstr>
      <vt:lpstr>Git Assignment – What You Told Us</vt:lpstr>
      <vt:lpstr>What you told us about Git</vt:lpstr>
      <vt:lpstr>What you like</vt:lpstr>
      <vt:lpstr>What you dislike</vt:lpstr>
      <vt:lpstr>Your questions: how Git works</vt:lpstr>
      <vt:lpstr>Your questions: tools and workflow</vt:lpstr>
      <vt:lpstr>Your evaluation is in Canvas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Assignment – What You Told Us</dc:title>
  <dc:subject/>
  <dc:creator/>
  <cp:lastModifiedBy>Jezek, Filip</cp:lastModifiedBy>
  <cp:revision>2</cp:revision>
  <dcterms:created xsi:type="dcterms:W3CDTF">2026-10-02T22:30:04Z</dcterms:created>
  <dcterms:modified xsi:type="dcterms:W3CDTF">2026-10-02T22:33:29Z</dcterms:modified>
</cp:coreProperties>
</file>